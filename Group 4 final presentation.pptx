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9"/>
  </p:normalViewPr>
  <p:slideViewPr>
    <p:cSldViewPr snapToGrid="0">
      <p:cViewPr>
        <p:scale>
          <a:sx n="80" d="100"/>
          <a:sy n="80" d="100"/>
        </p:scale>
        <p:origin x="1704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C3912-727D-9FCD-1534-1D2AC8837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4269282"/>
            <a:ext cx="8991600" cy="1264762"/>
          </a:xfrm>
        </p:spPr>
        <p:txBody>
          <a:bodyPr>
            <a:normAutofit fontScale="90000"/>
          </a:bodyPr>
          <a:lstStyle/>
          <a:p>
            <a:br>
              <a:rPr lang="en-GB" sz="3200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3200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Assignment 1: Google Trends and Stock price fluctuations</a:t>
            </a:r>
            <a:br>
              <a:rPr lang="en-GB" sz="2400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1D175C-B70C-BFC4-FE96-3C97DD9055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1303" y="5743430"/>
            <a:ext cx="7309394" cy="813865"/>
          </a:xfrm>
        </p:spPr>
        <p:txBody>
          <a:bodyPr>
            <a:normAutofit fontScale="92500" lnSpcReduction="10000"/>
          </a:bodyPr>
          <a:lstStyle/>
          <a:p>
            <a:r>
              <a:rPr lang="en-GB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Anesu Mukuvari 2020135568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Ayanda </a:t>
            </a:r>
            <a:r>
              <a:rPr lang="en-GB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Mhlauli</a:t>
            </a:r>
            <a:r>
              <a:rPr lang="en-GB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2021442765</a:t>
            </a:r>
          </a:p>
          <a:p>
            <a:pPr lvl="0">
              <a:spcBef>
                <a:spcPts val="0"/>
              </a:spcBef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4</a:t>
            </a:r>
            <a:endParaRPr lang="en-GB" sz="1100" dirty="0"/>
          </a:p>
          <a:p>
            <a:pPr lvl="0">
              <a:spcBef>
                <a:spcPts val="0"/>
              </a:spcBef>
            </a:pPr>
            <a:r>
              <a:rPr lang="en-GB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Honours in Business and Financial Analytics EDAB6800</a:t>
            </a:r>
            <a:endParaRPr lang="en-GB" sz="1100" dirty="0"/>
          </a:p>
          <a:p>
            <a:endParaRPr lang="en-US" sz="18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974576-6F9E-4B11-8273-A9F0AE188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7032" y="640555"/>
            <a:ext cx="9498768" cy="33120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ECC3EF-DDFD-4B14-B98F-B6E732810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10700" y="806112"/>
            <a:ext cx="9171432" cy="2980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132;p25" descr="A black background with letters&#10;&#10;AI-generated content may be incorrect.">
            <a:extLst>
              <a:ext uri="{FF2B5EF4-FFF2-40B4-BE49-F238E27FC236}">
                <a16:creationId xmlns:a16="http://schemas.microsoft.com/office/drawing/2014/main" id="{C45470C2-6CAB-D2A9-80CC-3FFF3BCF3D16}"/>
              </a:ext>
            </a:extLst>
          </p:cNvPr>
          <p:cNvPicPr preferRelativeResize="0"/>
          <p:nvPr/>
        </p:nvPicPr>
        <p:blipFill rotWithShape="1">
          <a:blip r:embed="rId2"/>
          <a:stretch/>
        </p:blipFill>
        <p:spPr>
          <a:xfrm>
            <a:off x="1965878" y="1114570"/>
            <a:ext cx="2338237" cy="2338237"/>
          </a:xfrm>
          <a:prstGeom prst="rect">
            <a:avLst/>
          </a:prstGeom>
          <a:noFill/>
        </p:spPr>
      </p:pic>
      <p:pic>
        <p:nvPicPr>
          <p:cNvPr id="10" name="Google Shape;133;p25" descr="A logo of a company&#10;&#10;AI-generated content may be incorrect.">
            <a:extLst>
              <a:ext uri="{FF2B5EF4-FFF2-40B4-BE49-F238E27FC236}">
                <a16:creationId xmlns:a16="http://schemas.microsoft.com/office/drawing/2014/main" id="{77BC2859-8174-3122-F284-221453C16977}"/>
              </a:ext>
            </a:extLst>
          </p:cNvPr>
          <p:cNvPicPr preferRelativeResize="0"/>
          <p:nvPr/>
        </p:nvPicPr>
        <p:blipFill rotWithShape="1">
          <a:blip r:embed="rId3"/>
          <a:stretch/>
        </p:blipFill>
        <p:spPr>
          <a:xfrm>
            <a:off x="4920385" y="1114570"/>
            <a:ext cx="2338237" cy="2338237"/>
          </a:xfrm>
          <a:prstGeom prst="rect">
            <a:avLst/>
          </a:prstGeom>
          <a:noFill/>
        </p:spPr>
      </p:pic>
      <p:pic>
        <p:nvPicPr>
          <p:cNvPr id="8" name="Google Shape;134;p25" descr="A black and white logo with a lion in a circle&#10;&#10;AI-generated content may be incorrect.">
            <a:extLst>
              <a:ext uri="{FF2B5EF4-FFF2-40B4-BE49-F238E27FC236}">
                <a16:creationId xmlns:a16="http://schemas.microsoft.com/office/drawing/2014/main" id="{0D586C0F-4EE9-8326-8632-431F4AD85B9F}"/>
              </a:ext>
            </a:extLst>
          </p:cNvPr>
          <p:cNvPicPr preferRelativeResize="0"/>
          <p:nvPr/>
        </p:nvPicPr>
        <p:blipFill rotWithShape="1">
          <a:blip r:embed="rId4"/>
          <a:srcRect t="15264" b="15257"/>
          <a:stretch/>
        </p:blipFill>
        <p:spPr>
          <a:xfrm>
            <a:off x="7727622" y="1602302"/>
            <a:ext cx="2632777" cy="136277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9397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EE060-E7A0-A671-5D66-E9C2B5222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Background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61095-D01D-E58D-0472-559305DC8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Investor behaviour has shifted to online information-seeking, especially retail investors (Barber &amp; Odean, 2008).</a:t>
            </a:r>
          </a:p>
          <a:p>
            <a:pPr marL="0" indent="0">
              <a:buNone/>
            </a:pPr>
            <a:endParaRPr lang="en-ZA" dirty="0"/>
          </a:p>
          <a:p>
            <a:r>
              <a:rPr lang="en-ZA" dirty="0"/>
              <a:t>Google Trends provides real-time proxy for public interest (Da, Engelberg &amp; Gao, 2011).</a:t>
            </a:r>
          </a:p>
          <a:p>
            <a:pPr marL="0" indent="0">
              <a:buNone/>
            </a:pPr>
            <a:endParaRPr lang="en-ZA" dirty="0"/>
          </a:p>
          <a:p>
            <a:r>
              <a:rPr lang="en-ZA" dirty="0"/>
              <a:t>Spikes in search activity often precede trading volume and price movements (Bui &amp; Nguyen, 2019).</a:t>
            </a:r>
          </a:p>
          <a:p>
            <a:pPr marL="0" indent="0">
              <a:buNone/>
            </a:pPr>
            <a:endParaRPr lang="en-ZA" dirty="0"/>
          </a:p>
          <a:p>
            <a:r>
              <a:rPr lang="en-ZA" dirty="0"/>
              <a:t>Study investigates whether Google Search Volume Index (GSVI) can predict FirstRand stock movements on JSE.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34E55-7CDB-17BF-8CC2-CBC0B2D92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600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E7A2C-06CC-2944-D75A-1C78256BA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 This Possible</a:t>
            </a:r>
            <a:br>
              <a:rPr lang="en-US" dirty="0"/>
            </a:br>
            <a:r>
              <a:rPr lang="en-US" dirty="0"/>
              <a:t>(Evidence From literature)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0DD6A-41DC-130F-9AB0-07078D7F4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Takeda and Wakao (2014) – GSVI effects stronger in retail-heavy Japanese stocks.</a:t>
            </a:r>
          </a:p>
          <a:p>
            <a:endParaRPr lang="en-US" dirty="0"/>
          </a:p>
          <a:p>
            <a:r>
              <a:rPr lang="en-US" dirty="0"/>
              <a:t>Bui and Nguyen (2019) – Abnormal searches precede trading volume surges (Vietnam).</a:t>
            </a:r>
          </a:p>
          <a:p>
            <a:endParaRPr lang="en-US" dirty="0"/>
          </a:p>
          <a:p>
            <a:r>
              <a:rPr lang="en-US" dirty="0"/>
              <a:t>Da, Engelberg and Gao (2011) – Google search volume predicts US equity returns.</a:t>
            </a:r>
          </a:p>
          <a:p>
            <a:endParaRPr lang="en-US" dirty="0"/>
          </a:p>
          <a:p>
            <a:r>
              <a:rPr lang="en-US" dirty="0"/>
              <a:t>Ayala et al (2020) – GSVI positively related to volatility and trading volume (the review used 56 studies).</a:t>
            </a:r>
          </a:p>
          <a:p>
            <a:endParaRPr lang="en-US" dirty="0"/>
          </a:p>
          <a:p>
            <a:r>
              <a:rPr lang="en-US" dirty="0"/>
              <a:t>Joseph, Babajide and Chen (2011) – Search spikes drive short-term price pressures.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727A8-8B09-54A6-215F-23FBC41C6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Google Shape;151;p27" descr="A map of the world&#10;&#10;AI-generated content may be incorrect.">
            <a:extLst>
              <a:ext uri="{FF2B5EF4-FFF2-40B4-BE49-F238E27FC236}">
                <a16:creationId xmlns:a16="http://schemas.microsoft.com/office/drawing/2014/main" id="{C0B9E208-1B65-11DA-5656-29921319C38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4064" y="3712616"/>
            <a:ext cx="5207871" cy="18686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0398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0FB0E-C20B-3127-8167-163E6465B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firstrand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119E9-0280-8866-8E0A-651E694A2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Market Significance </a:t>
            </a:r>
            <a:r>
              <a:rPr lang="en-US" dirty="0"/>
              <a:t>– One of South Africa’s largest financial institutions. </a:t>
            </a:r>
          </a:p>
          <a:p>
            <a:endParaRPr lang="en-US" dirty="0"/>
          </a:p>
          <a:p>
            <a:r>
              <a:rPr lang="en-US" b="1" dirty="0"/>
              <a:t>Retail Investor Visibility </a:t>
            </a:r>
            <a:r>
              <a:rPr lang="en-US" dirty="0"/>
              <a:t>– Large retail customer base via FNB.</a:t>
            </a:r>
          </a:p>
          <a:p>
            <a:endParaRPr lang="en-US" dirty="0"/>
          </a:p>
          <a:p>
            <a:r>
              <a:rPr lang="en-US" b="1" dirty="0"/>
              <a:t>Consistent with Literature </a:t>
            </a:r>
            <a:r>
              <a:rPr lang="en-US" dirty="0"/>
              <a:t>–  Attention-driven trading strong in retail-heavy stocks.</a:t>
            </a:r>
          </a:p>
          <a:p>
            <a:endParaRPr lang="en-US" dirty="0"/>
          </a:p>
          <a:p>
            <a:r>
              <a:rPr lang="en-US" b="1" dirty="0"/>
              <a:t>Information-Seeking Proxy </a:t>
            </a:r>
            <a:r>
              <a:rPr lang="en-US" dirty="0"/>
              <a:t>– Financial firms frequently used to test investor behavior.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3E9BA-764E-340D-1CE8-4CCF01EB2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Google Shape;134;p25" descr="A black and white logo with a lion in a circle&#10;&#10;AI-generated content may be incorrect.">
            <a:extLst>
              <a:ext uri="{FF2B5EF4-FFF2-40B4-BE49-F238E27FC236}">
                <a16:creationId xmlns:a16="http://schemas.microsoft.com/office/drawing/2014/main" id="{90AECD3D-E432-74FA-4CD0-9A456E412358}"/>
              </a:ext>
            </a:extLst>
          </p:cNvPr>
          <p:cNvPicPr preferRelativeResize="0"/>
          <p:nvPr/>
        </p:nvPicPr>
        <p:blipFill rotWithShape="1">
          <a:blip r:embed="rId2"/>
          <a:srcRect t="15264" b="15257"/>
          <a:stretch/>
        </p:blipFill>
        <p:spPr>
          <a:xfrm>
            <a:off x="1696559" y="3965549"/>
            <a:ext cx="2632777" cy="1362773"/>
          </a:xfrm>
          <a:prstGeom prst="rect">
            <a:avLst/>
          </a:prstGeom>
          <a:noFill/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1B3D24C3-38B9-52EA-C302-C7CD86C91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Information-Seeking Proxy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- Financial sector firms frequently used to test investor behaviour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068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735F1-003B-719F-248A-AB2B2E495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br>
              <a:rPr lang="en-US" dirty="0"/>
            </a:br>
            <a:r>
              <a:rPr lang="en-US" dirty="0"/>
              <a:t>(Time Series Analysis)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D6F6D-3E88-4E1C-E490-615B54588E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Stationarity Testing : </a:t>
            </a:r>
          </a:p>
          <a:p>
            <a:pPr marL="0" indent="0">
              <a:buNone/>
            </a:pPr>
            <a:r>
              <a:rPr lang="en-US" dirty="0"/>
              <a:t>         - We </a:t>
            </a:r>
            <a:r>
              <a:rPr lang="en-ZA" dirty="0"/>
              <a:t>Applied Augmented Dickey-Fuller (ADF) tests to confirm stationarity.</a:t>
            </a:r>
          </a:p>
          <a:p>
            <a:pPr marL="0" indent="0">
              <a:buNone/>
            </a:pPr>
            <a:r>
              <a:rPr lang="en-ZA" dirty="0"/>
              <a:t>         - Differenced non-stationary series to achieve stationarity.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AD893-4B7A-8478-D532-CB92C01CB0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ZA" dirty="0"/>
              <a:t>Transformations : </a:t>
            </a:r>
          </a:p>
          <a:p>
            <a:pPr marL="0" indent="0">
              <a:buNone/>
            </a:pPr>
            <a:r>
              <a:rPr lang="en-ZA" dirty="0"/>
              <a:t>             - Daily log returns calculated for stock prices.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18CEE7-4AEF-DF56-A003-D6BFD81C9792}"/>
              </a:ext>
            </a:extLst>
          </p:cNvPr>
          <p:cNvSpPr txBox="1"/>
          <p:nvPr/>
        </p:nvSpPr>
        <p:spPr>
          <a:xfrm>
            <a:off x="4470400" y="59798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2799FB7-A1E9-705E-6492-3046D93F0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4936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Justification: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Stationarity prevents spurious regressions; daily aggregation effective (Gujarati, 2003; Da et al., 2011)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815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94CCE-0BD7-0D06-A1B2-EBDDFAFEE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>
            <a:normAutofit/>
          </a:bodyPr>
          <a:lstStyle/>
          <a:p>
            <a:r>
              <a:rPr lang="en-US" dirty="0"/>
              <a:t>Results and Insights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96B3C2E-377D-E136-F591-A33EFC903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465614"/>
            <a:ext cx="3063765" cy="3984172"/>
          </a:xfrm>
        </p:spPr>
        <p:txBody>
          <a:bodyPr>
            <a:normAutofit fontScale="92500" lnSpcReduction="20000"/>
          </a:bodyPr>
          <a:lstStyle/>
          <a:p>
            <a:r>
              <a:rPr lang="en-ZA" dirty="0"/>
              <a:t>ADF tests confirmed non-stationarity in levels of keywords and stock price.</a:t>
            </a:r>
          </a:p>
          <a:p>
            <a:r>
              <a:rPr lang="en-ZA" dirty="0"/>
              <a:t>Stationarity achieved for both variables after first differencing.</a:t>
            </a:r>
          </a:p>
          <a:p>
            <a:r>
              <a:rPr lang="en-GB" dirty="0">
                <a:solidFill>
                  <a:schemeClr val="dk1"/>
                </a:solidFill>
              </a:rPr>
              <a:t>Weekly Google search activity for “FirstRand” and “FNB” showed spikes around major</a:t>
            </a:r>
            <a:r>
              <a:rPr lang="en-GB" b="1" dirty="0">
                <a:solidFill>
                  <a:schemeClr val="dk1"/>
                </a:solidFill>
              </a:rPr>
              <a:t> </a:t>
            </a:r>
            <a:r>
              <a:rPr lang="en-GB" dirty="0">
                <a:solidFill>
                  <a:schemeClr val="dk1"/>
                </a:solidFill>
              </a:rPr>
              <a:t>market events (such as interest rate announcements, earnings releases).</a:t>
            </a:r>
          </a:p>
          <a:p>
            <a:r>
              <a:rPr lang="en-GB" dirty="0">
                <a:solidFill>
                  <a:schemeClr val="dk1"/>
                </a:solidFill>
              </a:rPr>
              <a:t>Suggests investor attention rises during periods of heightened financial news or volatility.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oogle Shape;180;p30" title="Unknown.png">
            <a:extLst>
              <a:ext uri="{FF2B5EF4-FFF2-40B4-BE49-F238E27FC236}">
                <a16:creationId xmlns:a16="http://schemas.microsoft.com/office/drawing/2014/main" id="{DEDF7577-D6CB-66BA-9516-859FF61ED2FC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823366" y="1946260"/>
            <a:ext cx="6227064" cy="297342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72585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00D7E0-1A79-CC30-6788-2E1AD2928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Regression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73E67-9687-440E-420B-14456580ED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>
                <a:solidFill>
                  <a:schemeClr val="dk1"/>
                </a:solidFill>
              </a:rPr>
              <a:t>The equation tested if the GSVI has an impact on stock closing prices.</a:t>
            </a:r>
          </a:p>
          <a:p>
            <a:r>
              <a:rPr lang="en-GB" dirty="0">
                <a:solidFill>
                  <a:schemeClr val="dk1"/>
                </a:solidFill>
              </a:rPr>
              <a:t>Tried to identify predictive links between the GSVI and the movement of the stock closing prices.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325302-4346-86FF-0052-F25E1F19741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>
                <a:solidFill>
                  <a:schemeClr val="dk1"/>
                </a:solidFill>
              </a:rPr>
              <a:t>Examined lead–lag dynamics between GSVI  and stock performance.</a:t>
            </a:r>
          </a:p>
          <a:p>
            <a:r>
              <a:rPr lang="en-GB" dirty="0">
                <a:solidFill>
                  <a:schemeClr val="dk1"/>
                </a:solidFill>
              </a:rPr>
              <a:t>Key question: </a:t>
            </a:r>
            <a:r>
              <a:rPr lang="en-GB" i="1" dirty="0">
                <a:solidFill>
                  <a:schemeClr val="dk1"/>
                </a:solidFill>
              </a:rPr>
              <a:t>Does investor attention predict stock changes, or react to them?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6887AB-62FC-317C-C349-EC863D4811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Granger Causality Test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426137-4D42-05D5-648D-3EE87A6A6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</a:t>
            </a:r>
            <a:br>
              <a:rPr lang="en-US" dirty="0"/>
            </a:br>
            <a:r>
              <a:rPr lang="en-US" dirty="0"/>
              <a:t>(Statistical Approach)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08F4F9-5ECE-CA24-A8B4-D7F59D42E1EB}"/>
              </a:ext>
            </a:extLst>
          </p:cNvPr>
          <p:cNvSpPr txBox="1"/>
          <p:nvPr/>
        </p:nvSpPr>
        <p:spPr>
          <a:xfrm>
            <a:off x="3046640" y="5529647"/>
            <a:ext cx="6098720" cy="1023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595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GB" sz="1800" b="1" dirty="0">
                <a:solidFill>
                  <a:schemeClr val="dk1"/>
                </a:solidFill>
              </a:rPr>
              <a:t>Justification</a:t>
            </a:r>
            <a:r>
              <a:rPr lang="en-GB" sz="1800" dirty="0">
                <a:solidFill>
                  <a:schemeClr val="dk1"/>
                </a:solidFill>
              </a:rPr>
              <a:t>: These approaches have been commonly used in behavioural finance literature (Da et al., 2011; Bui &amp; Nguyen, 2019).</a:t>
            </a:r>
          </a:p>
        </p:txBody>
      </p:sp>
    </p:spTree>
    <p:extLst>
      <p:ext uri="{BB962C8B-B14F-4D97-AF65-F5344CB8AC3E}">
        <p14:creationId xmlns:p14="http://schemas.microsoft.com/office/powerpoint/2010/main" val="1256016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CA398B-8CB4-4C0C-89C6-A8AB6F78D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72915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D6B446-E780-718F-4C29-17D2C7402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90025"/>
            <a:ext cx="4475892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800"/>
              <a:t>Regression Findings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981D1-180B-133D-3F5B-35B0EB486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4672" y="2858703"/>
            <a:ext cx="4475892" cy="3042547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dk1"/>
                </a:solidFill>
              </a:rPr>
              <a:t>Positive but statistically weak relationship between Google search activity and weekly returns.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dk1"/>
                </a:solidFill>
              </a:rPr>
              <a:t>Interpretation: investors tend to search more when trading activity increases, not necessarily before </a:t>
            </a:r>
            <a:r>
              <a:rPr lang="en-GB" sz="1800">
                <a:solidFill>
                  <a:schemeClr val="dk1"/>
                </a:solidFill>
              </a:rPr>
              <a:t>returns change.</a:t>
            </a:r>
            <a:endParaRPr lang="en-US" sz="1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8345C6-0280-4226-BD83-7333BA6C3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032" y="640080"/>
            <a:ext cx="4818888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823778-D290-4538-B146-1F73C3755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843" y="806357"/>
            <a:ext cx="4511266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198;p32" title="Unknown-2.png">
            <a:extLst>
              <a:ext uri="{FF2B5EF4-FFF2-40B4-BE49-F238E27FC236}">
                <a16:creationId xmlns:a16="http://schemas.microsoft.com/office/drawing/2014/main" id="{057D7328-CD37-DA09-B81D-2A1FF518252F}"/>
              </a:ext>
            </a:extLst>
          </p:cNvPr>
          <p:cNvPicPr preferRelativeResize="0">
            <a:picLocks noGrp="1"/>
          </p:cNvPicPr>
          <p:nvPr>
            <p:ph type="pic" idx="1"/>
          </p:nvPr>
        </p:nvPicPr>
        <p:blipFill>
          <a:blip r:embed="rId2"/>
          <a:srcRect l="5344" r="10100" b="-1"/>
          <a:stretch>
            <a:fillRect/>
          </a:stretch>
        </p:blipFill>
        <p:spPr>
          <a:xfrm>
            <a:off x="7208520" y="1126397"/>
            <a:ext cx="3867912" cy="4288536"/>
          </a:xfrm>
          <a:prstGeom prst="rect">
            <a:avLst/>
          </a:prstGeom>
          <a:noFill/>
          <a:ln w="31750">
            <a:noFill/>
          </a:ln>
        </p:spPr>
      </p:pic>
    </p:spTree>
    <p:extLst>
      <p:ext uri="{BB962C8B-B14F-4D97-AF65-F5344CB8AC3E}">
        <p14:creationId xmlns:p14="http://schemas.microsoft.com/office/powerpoint/2010/main" val="300956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3555FF-6D32-F24C-915F-D549B35D2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2FF21-CD1E-DDBB-22D7-2F477559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511" y="150753"/>
            <a:ext cx="2286000" cy="3652552"/>
          </a:xfrm>
          <a:prstGeom prst="flowChartDocument">
            <a:avLst/>
          </a:prstGeom>
          <a:solidFill>
            <a:schemeClr val="accent2"/>
          </a:solidFill>
          <a:ln>
            <a:noFill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Granger Causality Findings</a:t>
            </a:r>
          </a:p>
        </p:txBody>
      </p:sp>
      <p:sp>
        <p:nvSpPr>
          <p:cNvPr id="18" name="Flowchart: Document 17">
            <a:extLst>
              <a:ext uri="{FF2B5EF4-FFF2-40B4-BE49-F238E27FC236}">
                <a16:creationId xmlns:a16="http://schemas.microsoft.com/office/drawing/2014/main" id="{1E14715B-2E40-4760-AE23-026845A30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19" y="2121408"/>
            <a:ext cx="2615184" cy="2615184"/>
          </a:xfrm>
          <a:prstGeom prst="flowChartDocument">
            <a:avLst/>
          </a:prstGeom>
          <a:noFill/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D08429-4C7A-4C37-848C-C1613E31D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8017" y="640080"/>
            <a:ext cx="7662672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8F4B2B-96EA-4C0F-84D3-5728F7CF0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7181" y="802767"/>
            <a:ext cx="7324344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Placeholder 9" descr="A screenshot of a table&#10;&#10;AI-generated content may be incorrect.">
            <a:extLst>
              <a:ext uri="{FF2B5EF4-FFF2-40B4-BE49-F238E27FC236}">
                <a16:creationId xmlns:a16="http://schemas.microsoft.com/office/drawing/2014/main" id="{91F3AD4E-24B5-45F9-0B1E-67EE6BFAB7A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>
            <a:fillRect/>
          </a:stretch>
        </p:blipFill>
        <p:spPr>
          <a:xfrm>
            <a:off x="3829756" y="919448"/>
            <a:ext cx="8362244" cy="4704397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766225-D861-4D22-4840-9DA1C4712CC9}"/>
              </a:ext>
            </a:extLst>
          </p:cNvPr>
          <p:cNvSpPr txBox="1"/>
          <p:nvPr/>
        </p:nvSpPr>
        <p:spPr>
          <a:xfrm>
            <a:off x="443812" y="2255983"/>
            <a:ext cx="305545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No strong evidence that </a:t>
            </a:r>
          </a:p>
          <a:p>
            <a:r>
              <a:rPr lang="en-ZA" dirty="0"/>
              <a:t>GSVI Granger-causes returns.</a:t>
            </a:r>
          </a:p>
          <a:p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Little evidence that returns</a:t>
            </a:r>
          </a:p>
          <a:p>
            <a:r>
              <a:rPr lang="en-ZA" dirty="0"/>
              <a:t> Granger-cause search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FA3190-69C5-D25F-4DC5-A16968F23DFD}"/>
              </a:ext>
            </a:extLst>
          </p:cNvPr>
          <p:cNvSpPr txBox="1"/>
          <p:nvPr/>
        </p:nvSpPr>
        <p:spPr>
          <a:xfrm>
            <a:off x="1333382" y="6182582"/>
            <a:ext cx="9525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Implications:</a:t>
            </a:r>
            <a:r>
              <a:rPr lang="en-ZA" dirty="0"/>
              <a:t> Attention tends to lag behind price activity; consistent with emerging market findings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569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9E932-5DA3-8663-1154-88FE8A5B2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br>
              <a:rPr lang="en-US" dirty="0"/>
            </a:br>
            <a:r>
              <a:rPr lang="en-US" dirty="0"/>
              <a:t>(Machine learning approach)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D47A9CD-3BBA-5649-5F92-E7F33E64A1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5653046"/>
              </p:ext>
            </p:extLst>
          </p:nvPr>
        </p:nvGraphicFramePr>
        <p:xfrm>
          <a:off x="497303" y="2638425"/>
          <a:ext cx="11181348" cy="28479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95337">
                  <a:extLst>
                    <a:ext uri="{9D8B030D-6E8A-4147-A177-3AD203B41FA5}">
                      <a16:colId xmlns:a16="http://schemas.microsoft.com/office/drawing/2014/main" val="1413550894"/>
                    </a:ext>
                  </a:extLst>
                </a:gridCol>
                <a:gridCol w="2795337">
                  <a:extLst>
                    <a:ext uri="{9D8B030D-6E8A-4147-A177-3AD203B41FA5}">
                      <a16:colId xmlns:a16="http://schemas.microsoft.com/office/drawing/2014/main" val="3757700185"/>
                    </a:ext>
                  </a:extLst>
                </a:gridCol>
                <a:gridCol w="2795337">
                  <a:extLst>
                    <a:ext uri="{9D8B030D-6E8A-4147-A177-3AD203B41FA5}">
                      <a16:colId xmlns:a16="http://schemas.microsoft.com/office/drawing/2014/main" val="1735914959"/>
                    </a:ext>
                  </a:extLst>
                </a:gridCol>
                <a:gridCol w="2795337">
                  <a:extLst>
                    <a:ext uri="{9D8B030D-6E8A-4147-A177-3AD203B41FA5}">
                      <a16:colId xmlns:a16="http://schemas.microsoft.com/office/drawing/2014/main" val="290178549"/>
                    </a:ext>
                  </a:extLst>
                </a:gridCol>
              </a:tblGrid>
              <a:tr h="467041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IT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WEAKNESSES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850964"/>
                  </a:ext>
                </a:extLst>
              </a:tr>
              <a:tr h="723426">
                <a:tc>
                  <a:txBody>
                    <a:bodyPr/>
                    <a:lstStyle/>
                    <a:p>
                      <a:r>
                        <a:rPr lang="en-US" dirty="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Pattern matching using nearest neighbours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Simple, non-parametric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Sensitive to noise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979233"/>
                  </a:ext>
                </a:extLst>
              </a:tr>
              <a:tr h="467041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Ensemble of decision trees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Handles non-linearity well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overfit on small data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234087"/>
                  </a:ext>
                </a:extLst>
              </a:tr>
              <a:tr h="467041">
                <a:tc>
                  <a:txBody>
                    <a:bodyPr/>
                    <a:lstStyle/>
                    <a:p>
                      <a:r>
                        <a:rPr lang="en-US" dirty="0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Sequential tree building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accuracy potential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Computationally intensive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274510"/>
                  </a:ext>
                </a:extLst>
              </a:tr>
              <a:tr h="723426">
                <a:tc>
                  <a:txBody>
                    <a:bodyPr/>
                    <a:lstStyle/>
                    <a:p>
                      <a:r>
                        <a:rPr lang="en-US" dirty="0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Optimized gradient boosting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Fast, efficient, robust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Requires parameter tuning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337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7403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910B-D681-8009-3E6E-2BCED9972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br>
              <a:rPr lang="en-US" dirty="0"/>
            </a:br>
            <a:r>
              <a:rPr lang="en-US" dirty="0"/>
              <a:t>(machine learning results)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2D3CC2A-AACE-34C4-2B5B-F839B73D86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1433949"/>
              </p:ext>
            </p:extLst>
          </p:nvPr>
        </p:nvGraphicFramePr>
        <p:xfrm>
          <a:off x="194190" y="2654467"/>
          <a:ext cx="11803619" cy="2392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80674">
                  <a:extLst>
                    <a:ext uri="{9D8B030D-6E8A-4147-A177-3AD203B41FA5}">
                      <a16:colId xmlns:a16="http://schemas.microsoft.com/office/drawing/2014/main" val="1624930127"/>
                    </a:ext>
                  </a:extLst>
                </a:gridCol>
                <a:gridCol w="1767287">
                  <a:extLst>
                    <a:ext uri="{9D8B030D-6E8A-4147-A177-3AD203B41FA5}">
                      <a16:colId xmlns:a16="http://schemas.microsoft.com/office/drawing/2014/main" val="1047850214"/>
                    </a:ext>
                  </a:extLst>
                </a:gridCol>
                <a:gridCol w="1375943">
                  <a:extLst>
                    <a:ext uri="{9D8B030D-6E8A-4147-A177-3AD203B41FA5}">
                      <a16:colId xmlns:a16="http://schemas.microsoft.com/office/drawing/2014/main" val="3967809942"/>
                    </a:ext>
                  </a:extLst>
                </a:gridCol>
                <a:gridCol w="1375943">
                  <a:extLst>
                    <a:ext uri="{9D8B030D-6E8A-4147-A177-3AD203B41FA5}">
                      <a16:colId xmlns:a16="http://schemas.microsoft.com/office/drawing/2014/main" val="2076382350"/>
                    </a:ext>
                  </a:extLst>
                </a:gridCol>
                <a:gridCol w="1375943">
                  <a:extLst>
                    <a:ext uri="{9D8B030D-6E8A-4147-A177-3AD203B41FA5}">
                      <a16:colId xmlns:a16="http://schemas.microsoft.com/office/drawing/2014/main" val="482706356"/>
                    </a:ext>
                  </a:extLst>
                </a:gridCol>
                <a:gridCol w="1375943">
                  <a:extLst>
                    <a:ext uri="{9D8B030D-6E8A-4147-A177-3AD203B41FA5}">
                      <a16:colId xmlns:a16="http://schemas.microsoft.com/office/drawing/2014/main" val="3007200527"/>
                    </a:ext>
                  </a:extLst>
                </a:gridCol>
                <a:gridCol w="1375943">
                  <a:extLst>
                    <a:ext uri="{9D8B030D-6E8A-4147-A177-3AD203B41FA5}">
                      <a16:colId xmlns:a16="http://schemas.microsoft.com/office/drawing/2014/main" val="3263714516"/>
                    </a:ext>
                  </a:extLst>
                </a:gridCol>
                <a:gridCol w="1375943">
                  <a:extLst>
                    <a:ext uri="{9D8B030D-6E8A-4147-A177-3AD203B41FA5}">
                      <a16:colId xmlns:a16="http://schemas.microsoft.com/office/drawing/2014/main" val="39716648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8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 RMSE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8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 RMSE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8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 MAE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8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 MAE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8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 MAPE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8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 R²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8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 R²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400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118.56%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02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86.19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109.57%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093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135.62%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41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GRADIENT BOOSTING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131.92%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480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8750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A193E-686B-33F6-E383-B7EFFBD7B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193A8-CC94-7D42-127D-0FC9A451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br>
              <a:rPr lang="en-US" dirty="0"/>
            </a:br>
            <a:r>
              <a:rPr lang="en-US" dirty="0"/>
              <a:t>(REGRESSION PERFOMANCE METRICS)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0DACEEE-95CD-46CD-FBF5-5CEBF552F1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9118355"/>
              </p:ext>
            </p:extLst>
          </p:nvPr>
        </p:nvGraphicFramePr>
        <p:xfrm>
          <a:off x="194190" y="2654467"/>
          <a:ext cx="11803619" cy="30704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80674">
                  <a:extLst>
                    <a:ext uri="{9D8B030D-6E8A-4147-A177-3AD203B41FA5}">
                      <a16:colId xmlns:a16="http://schemas.microsoft.com/office/drawing/2014/main" val="1624930127"/>
                    </a:ext>
                  </a:extLst>
                </a:gridCol>
                <a:gridCol w="1767287">
                  <a:extLst>
                    <a:ext uri="{9D8B030D-6E8A-4147-A177-3AD203B41FA5}">
                      <a16:colId xmlns:a16="http://schemas.microsoft.com/office/drawing/2014/main" val="1047850214"/>
                    </a:ext>
                  </a:extLst>
                </a:gridCol>
                <a:gridCol w="1375943">
                  <a:extLst>
                    <a:ext uri="{9D8B030D-6E8A-4147-A177-3AD203B41FA5}">
                      <a16:colId xmlns:a16="http://schemas.microsoft.com/office/drawing/2014/main" val="3967809942"/>
                    </a:ext>
                  </a:extLst>
                </a:gridCol>
                <a:gridCol w="1375943">
                  <a:extLst>
                    <a:ext uri="{9D8B030D-6E8A-4147-A177-3AD203B41FA5}">
                      <a16:colId xmlns:a16="http://schemas.microsoft.com/office/drawing/2014/main" val="2076382350"/>
                    </a:ext>
                  </a:extLst>
                </a:gridCol>
                <a:gridCol w="1375943">
                  <a:extLst>
                    <a:ext uri="{9D8B030D-6E8A-4147-A177-3AD203B41FA5}">
                      <a16:colId xmlns:a16="http://schemas.microsoft.com/office/drawing/2014/main" val="482706356"/>
                    </a:ext>
                  </a:extLst>
                </a:gridCol>
                <a:gridCol w="1375943">
                  <a:extLst>
                    <a:ext uri="{9D8B030D-6E8A-4147-A177-3AD203B41FA5}">
                      <a16:colId xmlns:a16="http://schemas.microsoft.com/office/drawing/2014/main" val="3007200527"/>
                    </a:ext>
                  </a:extLst>
                </a:gridCol>
                <a:gridCol w="1375943">
                  <a:extLst>
                    <a:ext uri="{9D8B030D-6E8A-4147-A177-3AD203B41FA5}">
                      <a16:colId xmlns:a16="http://schemas.microsoft.com/office/drawing/2014/main" val="3263714516"/>
                    </a:ext>
                  </a:extLst>
                </a:gridCol>
                <a:gridCol w="1375943">
                  <a:extLst>
                    <a:ext uri="{9D8B030D-6E8A-4147-A177-3AD203B41FA5}">
                      <a16:colId xmlns:a16="http://schemas.microsoft.com/office/drawing/2014/main" val="3971664877"/>
                    </a:ext>
                  </a:extLst>
                </a:gridCol>
              </a:tblGrid>
              <a:tr h="58284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solidFill>
                            <a:schemeClr val="dk1"/>
                          </a:solidFill>
                        </a:rPr>
                        <a:t>Model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solidFill>
                            <a:schemeClr val="dk1"/>
                          </a:solidFill>
                        </a:rPr>
                        <a:t>Train RMSE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solidFill>
                            <a:schemeClr val="dk1"/>
                          </a:solidFill>
                        </a:rPr>
                        <a:t>Test RMSE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solidFill>
                            <a:schemeClr val="dk1"/>
                          </a:solidFill>
                        </a:rPr>
                        <a:t>Train MAE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solidFill>
                            <a:schemeClr val="dk1"/>
                          </a:solidFill>
                        </a:rPr>
                        <a:t>Test MAE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solidFill>
                            <a:schemeClr val="dk1"/>
                          </a:solidFill>
                        </a:rPr>
                        <a:t>Test MAPE (%)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solidFill>
                            <a:schemeClr val="dk1"/>
                          </a:solidFill>
                        </a:rPr>
                        <a:t>Train R²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solidFill>
                            <a:schemeClr val="dk1"/>
                          </a:solidFill>
                        </a:rPr>
                        <a:t>Test R²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extLst>
                  <a:ext uri="{0D108BD9-81ED-4DB2-BD59-A6C34878D82A}">
                    <a16:rowId xmlns:a16="http://schemas.microsoft.com/office/drawing/2014/main" val="3401400646"/>
                  </a:ext>
                </a:extLst>
              </a:tr>
              <a:tr h="530188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solidFill>
                            <a:schemeClr val="dk1"/>
                          </a:solidFill>
                        </a:rPr>
                        <a:t>KNN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>
                          <a:solidFill>
                            <a:schemeClr val="dk1"/>
                          </a:solidFill>
                        </a:rPr>
                        <a:t>0.0000</a:t>
                      </a:r>
                      <a:endParaRPr sz="1800" dirty="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100.8229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0.0000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75.4716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118.5576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1.0000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-0.0770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extLst>
                  <a:ext uri="{0D108BD9-81ED-4DB2-BD59-A6C34878D82A}">
                    <a16:rowId xmlns:a16="http://schemas.microsoft.com/office/drawing/2014/main" val="1797021065"/>
                  </a:ext>
                </a:extLst>
              </a:tr>
              <a:tr h="530188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dirty="0">
                          <a:solidFill>
                            <a:schemeClr val="dk1"/>
                          </a:solidFill>
                        </a:rPr>
                        <a:t>Random Forest</a:t>
                      </a:r>
                      <a:endParaRPr sz="1800" b="1" dirty="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86.1928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96.4263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65.0821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73.2154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109.5739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0.2639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0.0149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extLst>
                  <a:ext uri="{0D108BD9-81ED-4DB2-BD59-A6C34878D82A}">
                    <a16:rowId xmlns:a16="http://schemas.microsoft.com/office/drawing/2014/main" val="1652093908"/>
                  </a:ext>
                </a:extLst>
              </a:tr>
              <a:tr h="530188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solidFill>
                            <a:schemeClr val="dk1"/>
                          </a:solidFill>
                        </a:rPr>
                        <a:t>XGBoost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73.4267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94.5012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56.7928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73.7905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135.6214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0.4658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0.0538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extLst>
                  <a:ext uri="{0D108BD9-81ED-4DB2-BD59-A6C34878D82A}">
                    <a16:rowId xmlns:a16="http://schemas.microsoft.com/office/drawing/2014/main" val="2547541558"/>
                  </a:ext>
                </a:extLst>
              </a:tr>
              <a:tr h="530188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dirty="0">
                          <a:solidFill>
                            <a:schemeClr val="dk1"/>
                          </a:solidFill>
                        </a:rPr>
                        <a:t>Gradient Boosting</a:t>
                      </a:r>
                      <a:endParaRPr sz="1800" b="1" dirty="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>
                          <a:solidFill>
                            <a:schemeClr val="dk1"/>
                          </a:solidFill>
                        </a:rPr>
                        <a:t>76.5292</a:t>
                      </a:r>
                      <a:endParaRPr sz="1800" dirty="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>
                          <a:solidFill>
                            <a:schemeClr val="dk1"/>
                          </a:solidFill>
                        </a:rPr>
                        <a:t>97.4054</a:t>
                      </a:r>
                      <a:endParaRPr sz="1800" dirty="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>
                          <a:solidFill>
                            <a:schemeClr val="dk1"/>
                          </a:solidFill>
                        </a:rPr>
                        <a:t>58.6658</a:t>
                      </a:r>
                      <a:endParaRPr sz="1800" dirty="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>
                          <a:solidFill>
                            <a:schemeClr val="dk1"/>
                          </a:solidFill>
                        </a:rPr>
                        <a:t>76.3615</a:t>
                      </a:r>
                      <a:endParaRPr sz="1800" dirty="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>
                          <a:solidFill>
                            <a:schemeClr val="dk1"/>
                          </a:solidFill>
                        </a:rPr>
                        <a:t>131.9190</a:t>
                      </a:r>
                      <a:endParaRPr sz="1800" dirty="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>
                          <a:solidFill>
                            <a:schemeClr val="dk1"/>
                          </a:solidFill>
                        </a:rPr>
                        <a:t>0.4197</a:t>
                      </a:r>
                      <a:endParaRPr sz="1800" dirty="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>
                          <a:solidFill>
                            <a:schemeClr val="dk1"/>
                          </a:solidFill>
                        </a:rPr>
                        <a:t>-0.0052</a:t>
                      </a:r>
                      <a:endParaRPr sz="1800" dirty="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66675" marB="66675"/>
                </a:tc>
                <a:extLst>
                  <a:ext uri="{0D108BD9-81ED-4DB2-BD59-A6C34878D82A}">
                    <a16:rowId xmlns:a16="http://schemas.microsoft.com/office/drawing/2014/main" val="484480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4553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0FC06A-D0B2-7D85-7B90-1B4F090CE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8067" y="1881379"/>
            <a:ext cx="4270248" cy="704087"/>
          </a:xfrm>
        </p:spPr>
        <p:txBody>
          <a:bodyPr/>
          <a:lstStyle/>
          <a:p>
            <a:r>
              <a:rPr lang="en-US" dirty="0"/>
              <a:t>CLASSIFICATION PERFORMANCE 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DBDE744-A18B-6361-1D82-8F0F0B4485F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63317811"/>
              </p:ext>
            </p:extLst>
          </p:nvPr>
        </p:nvGraphicFramePr>
        <p:xfrm>
          <a:off x="481490" y="2665475"/>
          <a:ext cx="5458060" cy="334658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1612">
                  <a:extLst>
                    <a:ext uri="{9D8B030D-6E8A-4147-A177-3AD203B41FA5}">
                      <a16:colId xmlns:a16="http://schemas.microsoft.com/office/drawing/2014/main" val="682975906"/>
                    </a:ext>
                  </a:extLst>
                </a:gridCol>
                <a:gridCol w="1091612">
                  <a:extLst>
                    <a:ext uri="{9D8B030D-6E8A-4147-A177-3AD203B41FA5}">
                      <a16:colId xmlns:a16="http://schemas.microsoft.com/office/drawing/2014/main" val="3320282051"/>
                    </a:ext>
                  </a:extLst>
                </a:gridCol>
                <a:gridCol w="1089138">
                  <a:extLst>
                    <a:ext uri="{9D8B030D-6E8A-4147-A177-3AD203B41FA5}">
                      <a16:colId xmlns:a16="http://schemas.microsoft.com/office/drawing/2014/main" val="3922921517"/>
                    </a:ext>
                  </a:extLst>
                </a:gridCol>
                <a:gridCol w="1094086">
                  <a:extLst>
                    <a:ext uri="{9D8B030D-6E8A-4147-A177-3AD203B41FA5}">
                      <a16:colId xmlns:a16="http://schemas.microsoft.com/office/drawing/2014/main" val="1738005778"/>
                    </a:ext>
                  </a:extLst>
                </a:gridCol>
                <a:gridCol w="1091612">
                  <a:extLst>
                    <a:ext uri="{9D8B030D-6E8A-4147-A177-3AD203B41FA5}">
                      <a16:colId xmlns:a16="http://schemas.microsoft.com/office/drawing/2014/main" val="407593432"/>
                    </a:ext>
                  </a:extLst>
                </a:gridCol>
              </a:tblGrid>
              <a:tr h="727304">
                <a:tc>
                  <a:txBody>
                    <a:bodyPr/>
                    <a:lstStyle/>
                    <a:p>
                      <a:r>
                        <a:rPr lang="en-US" sz="16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212311"/>
                  </a:ext>
                </a:extLst>
              </a:tr>
              <a:tr h="582336"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XGBoost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57.14%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0.571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0.571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0.571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480404"/>
                  </a:ext>
                </a:extLst>
              </a:tr>
              <a:tr h="582336">
                <a:tc>
                  <a:txBody>
                    <a:bodyPr/>
                    <a:lstStyle/>
                    <a:p>
                      <a:r>
                        <a:rPr lang="en-US" sz="1600" dirty="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55.10%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0.484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790866"/>
                  </a:ext>
                </a:extLst>
              </a:tr>
              <a:tr h="727304">
                <a:tc>
                  <a:txBody>
                    <a:bodyPr/>
                    <a:lstStyle/>
                    <a:p>
                      <a:r>
                        <a:rPr lang="en-US" sz="1600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51.02%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442715"/>
                  </a:ext>
                </a:extLst>
              </a:tr>
              <a:tr h="727304">
                <a:tc>
                  <a:txBody>
                    <a:bodyPr/>
                    <a:lstStyle/>
                    <a:p>
                      <a:r>
                        <a:rPr lang="en-US" sz="1600" dirty="0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51.02%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0.496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301600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40ADAA-2DF1-D767-6F2D-4CED0F8B1A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80DBB9E-DB96-A16A-C96B-782554265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RESULTS </a:t>
            </a:r>
          </a:p>
        </p:txBody>
      </p:sp>
      <p:pic>
        <p:nvPicPr>
          <p:cNvPr id="7" name="Google Shape;226;p35">
            <a:extLst>
              <a:ext uri="{FF2B5EF4-FFF2-40B4-BE49-F238E27FC236}">
                <a16:creationId xmlns:a16="http://schemas.microsoft.com/office/drawing/2014/main" id="{C4304455-469C-F301-F9BE-E2231E93166B}"/>
              </a:ext>
            </a:extLst>
          </p:cNvPr>
          <p:cNvPicPr preferRelativeResize="0">
            <a:picLocks noGrp="1"/>
          </p:cNvPicPr>
          <p:nvPr>
            <p:ph sz="quarter" idx="4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6252451" y="2585466"/>
            <a:ext cx="5458059" cy="342659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CC9B9E-66B9-1A33-28FF-EEA7B4F9F072}"/>
              </a:ext>
            </a:extLst>
          </p:cNvPr>
          <p:cNvSpPr txBox="1"/>
          <p:nvPr/>
        </p:nvSpPr>
        <p:spPr>
          <a:xfrm>
            <a:off x="891977" y="6259447"/>
            <a:ext cx="10720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Best Performer:</a:t>
            </a:r>
            <a:r>
              <a:rPr lang="en-ZA" dirty="0"/>
              <a:t> </a:t>
            </a:r>
            <a:r>
              <a:rPr lang="en-ZA" dirty="0" err="1"/>
              <a:t>XGBoost</a:t>
            </a:r>
            <a:r>
              <a:rPr lang="en-ZA" dirty="0"/>
              <a:t> with 57.14% accuracy in initial tests, improving to 71.2% with optimized lag features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999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3D9DA-8BEA-1795-801F-F0DB2AC54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375" y="4622533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 dirty="0"/>
              <a:t>Machine Learning Results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DD4F16-A929-482C-B168-387384254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40555"/>
            <a:ext cx="10911840" cy="33120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C4A220-E978-44DF-B951-44ABBA04D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6112"/>
            <a:ext cx="10579608" cy="2980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oogle Shape;237;p36">
            <a:extLst>
              <a:ext uri="{FF2B5EF4-FFF2-40B4-BE49-F238E27FC236}">
                <a16:creationId xmlns:a16="http://schemas.microsoft.com/office/drawing/2014/main" id="{F331C2C4-72C0-949E-3818-EA847C23C946}"/>
              </a:ext>
            </a:extLst>
          </p:cNvPr>
          <p:cNvPicPr preferRelativeResize="0"/>
          <p:nvPr/>
        </p:nvPicPr>
        <p:blipFill>
          <a:blip r:embed="rId2"/>
          <a:srcRect l="2188" r="14907"/>
          <a:stretch>
            <a:fillRect/>
          </a:stretch>
        </p:blipFill>
        <p:spPr>
          <a:xfrm>
            <a:off x="957436" y="970704"/>
            <a:ext cx="3319243" cy="2651760"/>
          </a:xfrm>
          <a:prstGeom prst="rect">
            <a:avLst/>
          </a:prstGeom>
          <a:noFill/>
        </p:spPr>
      </p:pic>
      <p:pic>
        <p:nvPicPr>
          <p:cNvPr id="5" name="Google Shape;235;p36">
            <a:extLst>
              <a:ext uri="{FF2B5EF4-FFF2-40B4-BE49-F238E27FC236}">
                <a16:creationId xmlns:a16="http://schemas.microsoft.com/office/drawing/2014/main" id="{EB880CA3-1D54-1AD6-DABD-E33032500D44}"/>
              </a:ext>
            </a:extLst>
          </p:cNvPr>
          <p:cNvPicPr preferRelativeResize="0">
            <a:picLocks noGrp="1"/>
          </p:cNvPicPr>
          <p:nvPr>
            <p:ph sz="half" idx="1"/>
          </p:nvPr>
        </p:nvPicPr>
        <p:blipFill>
          <a:blip r:embed="rId3"/>
          <a:srcRect r="16761"/>
          <a:stretch>
            <a:fillRect/>
          </a:stretch>
        </p:blipFill>
        <p:spPr>
          <a:xfrm>
            <a:off x="4434554" y="970705"/>
            <a:ext cx="3319243" cy="2651760"/>
          </a:xfrm>
          <a:prstGeom prst="rect">
            <a:avLst/>
          </a:prstGeom>
          <a:noFill/>
        </p:spPr>
      </p:pic>
      <p:pic>
        <p:nvPicPr>
          <p:cNvPr id="6" name="Google Shape;236;p36">
            <a:extLst>
              <a:ext uri="{FF2B5EF4-FFF2-40B4-BE49-F238E27FC236}">
                <a16:creationId xmlns:a16="http://schemas.microsoft.com/office/drawing/2014/main" id="{7D398710-1280-C12D-6F92-34204487DDAA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>
          <a:blip r:embed="rId4"/>
          <a:srcRect l="2858" r="14502" b="-4"/>
          <a:stretch>
            <a:fillRect/>
          </a:stretch>
        </p:blipFill>
        <p:spPr>
          <a:xfrm>
            <a:off x="7911673" y="970705"/>
            <a:ext cx="3309539" cy="26633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32273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C69F2D-4B2F-19E2-6CA1-3A1999C4C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supporting 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B15A9-D18B-E4EB-555F-83B77148E1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ZA" dirty="0"/>
              <a:t>Statistical significance in cross-correlation patterns.</a:t>
            </a:r>
          </a:p>
          <a:p>
            <a:r>
              <a:rPr lang="en-ZA" dirty="0"/>
              <a:t>71% directional accuracy in optimized models.</a:t>
            </a:r>
          </a:p>
          <a:p>
            <a:r>
              <a:rPr lang="en-ZA" dirty="0"/>
              <a:t>High feature importance for GSVI in ML models.</a:t>
            </a:r>
          </a:p>
          <a:p>
            <a:r>
              <a:rPr lang="en-ZA" dirty="0"/>
              <a:t>R² of 0.48 indicates moderate explanatory power.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6B3E2-A2B9-9A6C-8EB1-A4A029C3880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ZA" dirty="0"/>
              <a:t>MAPE approximately 39% - significant prediction error remains.</a:t>
            </a:r>
          </a:p>
          <a:p>
            <a:r>
              <a:rPr lang="en-ZA" dirty="0"/>
              <a:t>One-year timeframe may be insufficient.</a:t>
            </a:r>
          </a:p>
          <a:p>
            <a:r>
              <a:rPr lang="en-ZA" dirty="0"/>
              <a:t>External factors (macroeconomic events) not fully captured.</a:t>
            </a:r>
          </a:p>
          <a:p>
            <a:r>
              <a:rPr lang="en-ZA" dirty="0"/>
              <a:t>Low search volumes in South African context.</a:t>
            </a:r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5EC9B1-724B-43C3-11B2-12B4CA9BC5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FCA94E-C4AE-CF87-13FC-638E62737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 and Evidence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2D4ECA-4617-216D-924B-CC434A6BCF3D}"/>
              </a:ext>
            </a:extLst>
          </p:cNvPr>
          <p:cNvSpPr txBox="1"/>
          <p:nvPr/>
        </p:nvSpPr>
        <p:spPr>
          <a:xfrm>
            <a:off x="1336530" y="6128085"/>
            <a:ext cx="10003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Conclusion:</a:t>
            </a:r>
            <a:r>
              <a:rPr lang="en-ZA" dirty="0"/>
              <a:t> Google Trends data contains predictive signals at 7-14 day lags, but relationship is moderate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938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9C5E3C-6DC0-D053-1A85-3381BACDA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Investors and traders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D8214-3217-C28E-8238-9C1C421B3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3562350"/>
          </a:xfrm>
        </p:spPr>
        <p:txBody>
          <a:bodyPr>
            <a:normAutofit/>
          </a:bodyPr>
          <a:lstStyle/>
          <a:p>
            <a:r>
              <a:rPr lang="en-ZA" dirty="0"/>
              <a:t>Use as supplementary indicator, not standalone signal.</a:t>
            </a:r>
          </a:p>
          <a:p>
            <a:r>
              <a:rPr lang="en-ZA" dirty="0"/>
              <a:t>Focus on 7-14 day lag periods for optimal predictive value.</a:t>
            </a:r>
          </a:p>
          <a:p>
            <a:r>
              <a:rPr lang="en-ZA" dirty="0"/>
              <a:t>Monitor keywords: banking services, financial advice, investment tips.</a:t>
            </a:r>
          </a:p>
          <a:p>
            <a:r>
              <a:rPr lang="en-ZA" dirty="0"/>
              <a:t>Combine with technical analysis and fundamental research.</a:t>
            </a:r>
          </a:p>
          <a:p>
            <a:r>
              <a:rPr lang="en-ZA" dirty="0"/>
              <a:t>71% directional accuracy is promising but requires validation.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A937EE-1865-E53D-8200-F801B88CF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3257550"/>
          </a:xfrm>
        </p:spPr>
        <p:txBody>
          <a:bodyPr>
            <a:normAutofit/>
          </a:bodyPr>
          <a:lstStyle/>
          <a:p>
            <a:r>
              <a:rPr lang="en-ZA" dirty="0"/>
              <a:t>Multi-year analysis to capture market cycles.</a:t>
            </a:r>
          </a:p>
          <a:p>
            <a:r>
              <a:rPr lang="en-ZA" dirty="0"/>
              <a:t>Test across multiple JSE-listed stocks.</a:t>
            </a:r>
          </a:p>
          <a:p>
            <a:r>
              <a:rPr lang="en-ZA" dirty="0"/>
              <a:t>Incorporate sentiment analysis of search queries.</a:t>
            </a:r>
          </a:p>
          <a:p>
            <a:r>
              <a:rPr lang="en-ZA" dirty="0"/>
              <a:t>Integrate macroeconomic indicators.</a:t>
            </a:r>
          </a:p>
          <a:p>
            <a:r>
              <a:rPr lang="en-ZA" dirty="0"/>
              <a:t>Real-time trading simulation and </a:t>
            </a:r>
            <a:r>
              <a:rPr lang="en-ZA" dirty="0" err="1"/>
              <a:t>backtesting</a:t>
            </a:r>
            <a:r>
              <a:rPr lang="en-ZA" dirty="0"/>
              <a:t>.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3587C9-9AF8-5038-CDA3-E4012CD50F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Future research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3ECDC3C-4F5F-FC81-3ECB-72FD6099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 and future Directions</a:t>
            </a:r>
          </a:p>
        </p:txBody>
      </p:sp>
    </p:spTree>
    <p:extLst>
      <p:ext uri="{BB962C8B-B14F-4D97-AF65-F5344CB8AC3E}">
        <p14:creationId xmlns:p14="http://schemas.microsoft.com/office/powerpoint/2010/main" val="3198104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BB9B8-91D7-886A-1939-E1E1AD0FA3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4000" b="1" dirty="0">
                <a:solidFill>
                  <a:srgbClr val="2C3E50"/>
                </a:solidFill>
                <a:latin typeface="Verdana"/>
                <a:ea typeface="Verdana"/>
                <a:cs typeface="Verdana"/>
                <a:sym typeface="Verdana"/>
              </a:rPr>
              <a:t>Thank You</a:t>
            </a:r>
            <a:br>
              <a:rPr lang="en-GB" sz="4000" b="1" dirty="0">
                <a:solidFill>
                  <a:srgbClr val="2C3E50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E8CFF-7F49-8386-8DAA-7A2A96E388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4 </a:t>
            </a:r>
          </a:p>
        </p:txBody>
      </p:sp>
      <p:pic>
        <p:nvPicPr>
          <p:cNvPr id="5" name="Google Shape;132;p25" descr="A black background with letters&#10;&#10;AI-generated content may be incorrect.">
            <a:extLst>
              <a:ext uri="{FF2B5EF4-FFF2-40B4-BE49-F238E27FC236}">
                <a16:creationId xmlns:a16="http://schemas.microsoft.com/office/drawing/2014/main" id="{5201D5E1-98AD-CF07-5550-B36F220DEFE9}"/>
              </a:ext>
            </a:extLst>
          </p:cNvPr>
          <p:cNvPicPr preferRelativeResize="0"/>
          <p:nvPr/>
        </p:nvPicPr>
        <p:blipFill rotWithShape="1">
          <a:blip r:embed="rId2"/>
          <a:stretch/>
        </p:blipFill>
        <p:spPr>
          <a:xfrm>
            <a:off x="1600200" y="338839"/>
            <a:ext cx="2338237" cy="2338237"/>
          </a:xfrm>
          <a:prstGeom prst="rect">
            <a:avLst/>
          </a:prstGeom>
          <a:noFill/>
        </p:spPr>
      </p:pic>
      <p:pic>
        <p:nvPicPr>
          <p:cNvPr id="7" name="Google Shape;133;p25" descr="A logo of a company&#10;&#10;AI-generated content may be incorrect.">
            <a:extLst>
              <a:ext uri="{FF2B5EF4-FFF2-40B4-BE49-F238E27FC236}">
                <a16:creationId xmlns:a16="http://schemas.microsoft.com/office/drawing/2014/main" id="{46815DCD-A65D-0EA8-C0FE-FD0B29A17ED5}"/>
              </a:ext>
            </a:extLst>
          </p:cNvPr>
          <p:cNvPicPr preferRelativeResize="0"/>
          <p:nvPr/>
        </p:nvPicPr>
        <p:blipFill rotWithShape="1">
          <a:blip r:embed="rId3"/>
          <a:stretch/>
        </p:blipFill>
        <p:spPr>
          <a:xfrm>
            <a:off x="4759964" y="331000"/>
            <a:ext cx="2338237" cy="2338237"/>
          </a:xfrm>
          <a:prstGeom prst="rect">
            <a:avLst/>
          </a:prstGeom>
          <a:noFill/>
        </p:spPr>
      </p:pic>
      <p:pic>
        <p:nvPicPr>
          <p:cNvPr id="9" name="Google Shape;134;p25" descr="A black and white logo with a lion in a circle&#10;&#10;AI-generated content may be incorrect.">
            <a:extLst>
              <a:ext uri="{FF2B5EF4-FFF2-40B4-BE49-F238E27FC236}">
                <a16:creationId xmlns:a16="http://schemas.microsoft.com/office/drawing/2014/main" id="{F972F9FD-7B81-21A4-41FF-8F8C71268C48}"/>
              </a:ext>
            </a:extLst>
          </p:cNvPr>
          <p:cNvPicPr preferRelativeResize="0"/>
          <p:nvPr/>
        </p:nvPicPr>
        <p:blipFill rotWithShape="1">
          <a:blip r:embed="rId4"/>
          <a:srcRect t="15264" b="15257"/>
          <a:stretch/>
        </p:blipFill>
        <p:spPr>
          <a:xfrm>
            <a:off x="7498995" y="818731"/>
            <a:ext cx="2632777" cy="136277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3188295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124</TotalTime>
  <Words>973</Words>
  <Application>Microsoft Macintosh PowerPoint</Application>
  <PresentationFormat>Widescreen</PresentationFormat>
  <Paragraphs>224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-webkit-standard</vt:lpstr>
      <vt:lpstr>Arial</vt:lpstr>
      <vt:lpstr>Calibri</vt:lpstr>
      <vt:lpstr>Gill Sans MT</vt:lpstr>
      <vt:lpstr>Verdana</vt:lpstr>
      <vt:lpstr>Parcel</vt:lpstr>
      <vt:lpstr> Assignment 1: Google Trends and Stock price fluctuations </vt:lpstr>
      <vt:lpstr>Introduction and Background </vt:lpstr>
      <vt:lpstr>Is This Possible (Evidence From literature)</vt:lpstr>
      <vt:lpstr>Why firstrand?</vt:lpstr>
      <vt:lpstr>Methodology (Time Series Analysis) </vt:lpstr>
      <vt:lpstr>Results and Insights</vt:lpstr>
      <vt:lpstr>Methodology  (Statistical Approach)</vt:lpstr>
      <vt:lpstr>Regression Findings</vt:lpstr>
      <vt:lpstr>Granger Causality Findings</vt:lpstr>
      <vt:lpstr>Methodology (Machine learning approach)</vt:lpstr>
      <vt:lpstr>Methodology (machine learning results)</vt:lpstr>
      <vt:lpstr>Methodology (REGRESSION PERFOMANCE METRICS)</vt:lpstr>
      <vt:lpstr>MACHINE LEARNING RESULTS </vt:lpstr>
      <vt:lpstr>Machine Learning Results</vt:lpstr>
      <vt:lpstr>Research Question and Evidence</vt:lpstr>
      <vt:lpstr>Recommendations and future Directions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Anesu Mukuvari</dc:creator>
  <cp:lastModifiedBy>Anesu Mukuvari</cp:lastModifiedBy>
  <cp:revision>2</cp:revision>
  <dcterms:created xsi:type="dcterms:W3CDTF">2025-11-13T14:59:01Z</dcterms:created>
  <dcterms:modified xsi:type="dcterms:W3CDTF">2025-11-13T17:03:08Z</dcterms:modified>
</cp:coreProperties>
</file>